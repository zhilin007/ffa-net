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0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-457200"/>
            <a:ext cx="3657600" cy="3657600"/>
          </a:xfrm>
          <a:prstGeom prst="ellipse">
            <a:avLst/>
          </a:prstGeom>
          <a:solidFill>
            <a:srgbClr val="00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B4D8"/>
                </a:solidFill>
              </a:rPr>
              <a:t>FFA-Net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Feature Fusion Attention Network for Single Image Dehazing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47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AAAI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0E0EF"/>
                </a:solidFill>
              </a:rPr>
              <a:t>Xu Qin, Zhilin Wang et 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Peking University  ·  Beijing University of Aeronautics &amp; Astronautics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arXiv: 1911.07559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目录 /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报告大纲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1790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研究背景与问题定义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1790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1790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核心方法：FFA-Net 架构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38528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933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933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注意力机制详解（CA / PA）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38528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933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9933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特征融合策略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14016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688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688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训练流程与损失函数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414016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4688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数据集与实验设置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89504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443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29443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性能评估与对比结果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889504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9443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9443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效果展示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64992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41985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4198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代码结构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364992"/>
            <a:ext cx="5303520" cy="420624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1985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198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01 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单图像去雾：问题与挑战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1188720"/>
          </a:xfrm>
          <a:prstGeom prst="rect">
            <a:avLst/>
          </a:prstGeom>
          <a:solidFill>
            <a:srgbClr val="1B2E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D166"/>
                </a:solidFill>
              </a:rPr>
              <a:t>物理雾霾模型  I(x) = J(x)·t(x) + A·(1 − t(x))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I: 有雾图像    J: 清晰场景    t(x): 透射图    A: 大气光照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3657600" cy="3291840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雾霾的危害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3383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降低图像能见度与对比度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04260"/>
            <a:ext cx="3383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影响目标检测 / 分割 / 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70960"/>
            <a:ext cx="3383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影响自动驾驶安全性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834640"/>
            <a:ext cx="3657600" cy="3291840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7F00"/>
                </a:solidFill>
              </a:rPr>
              <a:t>现有方法局限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337560"/>
            <a:ext cx="3383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先验方法（DCP）假设强，易失效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604260"/>
            <a:ext cx="3383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CNN 方法缺乏空间差异化处理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870960"/>
            <a:ext cx="3383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不同位置雾浓度差异未被充分利用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2834640"/>
            <a:ext cx="3657600" cy="3291840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FFA-Net 的思路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337560"/>
            <a:ext cx="3383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引入像素级注意力（PALayer）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604260"/>
            <a:ext cx="3383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引入通道级注意力（CALayer）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3870960"/>
            <a:ext cx="3383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多组特征跨组融合（Feature Fusion）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02  网络架构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FFA-Net 整体结构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417320" cy="868680"/>
          </a:xfrm>
          <a:prstGeom prst="rect">
            <a:avLst/>
          </a:prstGeom>
          <a:solidFill>
            <a:srgbClr val="1B2E4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6362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Input
Hazy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H×W×3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856232"/>
            <a:ext cx="18288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64360" y="1783080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0" y="1508760"/>
            <a:ext cx="1417320" cy="86868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56362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PreConv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920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3→64
3×3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56232"/>
            <a:ext cx="18288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56000" y="1783080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1508760"/>
            <a:ext cx="1417320" cy="86868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156362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Group 1
(G1)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20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N Blocks
Residual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59" y="1856232"/>
            <a:ext cx="18288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47639" y="1783080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0680" y="1508760"/>
            <a:ext cx="1417320" cy="86868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156362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Group 2
(G2)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1920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N Blocks
Residual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856232"/>
            <a:ext cx="18288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39280" y="1783080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1508760"/>
            <a:ext cx="1417320" cy="86868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156362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Group 3
(G3)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1920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N Blocks
Residual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1856232"/>
            <a:ext cx="18288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30920" y="1783080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23960" y="1508760"/>
            <a:ext cx="1417320" cy="868680"/>
          </a:xfrm>
          <a:prstGeom prst="rect">
            <a:avLst/>
          </a:prstGeom>
          <a:solidFill>
            <a:srgbClr val="1B2E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156362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Cross-Group
CA 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1920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Concat→
Weighted Sum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1856232"/>
            <a:ext cx="18288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322560" y="1783080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0" y="1508760"/>
            <a:ext cx="1417320" cy="868680"/>
          </a:xfrm>
          <a:prstGeom prst="rect">
            <a:avLst/>
          </a:prstGeom>
          <a:solidFill>
            <a:srgbClr val="1B2E44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0" y="156362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7F00"/>
                </a:solidFill>
              </a:rPr>
              <a:t>PALayer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1920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Pixel
Attention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743200"/>
            <a:ext cx="118872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49039" y="2468880"/>
            <a:ext cx="1417320" cy="640080"/>
          </a:xfrm>
          <a:prstGeom prst="rect">
            <a:avLst/>
          </a:prstGeom>
          <a:solidFill>
            <a:srgbClr val="1B2E4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39" y="2487168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PostConv
64→3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2468880"/>
            <a:ext cx="1188720" cy="640080"/>
          </a:xfrm>
          <a:prstGeom prst="rect">
            <a:avLst/>
          </a:prstGeom>
          <a:solidFill>
            <a:srgbClr val="1B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0" y="248716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+ Input
(Residual)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2468880"/>
            <a:ext cx="1188720" cy="640080"/>
          </a:xfrm>
          <a:prstGeom prst="rect">
            <a:avLst/>
          </a:prstGeom>
          <a:solidFill>
            <a:srgbClr val="1B2E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248716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Output
Clear Img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关键设计要点</a:t>
            </a:r>
          </a:p>
        </p:txBody>
      </p:sp>
      <p:sp>
        <p:nvSpPr>
          <p:cNvPr id="47" name="Oval 46"/>
          <p:cNvSpPr/>
          <p:nvPr/>
        </p:nvSpPr>
        <p:spPr>
          <a:xfrm>
            <a:off x="457200" y="4318635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25196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输入输出维度一致（H×W×3），通过残差学习去雾残差</a:t>
            </a:r>
          </a:p>
        </p:txBody>
      </p:sp>
      <p:sp>
        <p:nvSpPr>
          <p:cNvPr id="49" name="Oval 48"/>
          <p:cNvSpPr/>
          <p:nvPr/>
        </p:nvSpPr>
        <p:spPr>
          <a:xfrm>
            <a:off x="457200" y="4623435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55676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 组 Group（G1/G2/G3）串行堆叠，每组含 N 个 Block（默认 N=19）</a:t>
            </a:r>
          </a:p>
        </p:txBody>
      </p:sp>
      <p:sp>
        <p:nvSpPr>
          <p:cNvPr id="51" name="Oval 50"/>
          <p:cNvSpPr/>
          <p:nvPr/>
        </p:nvSpPr>
        <p:spPr>
          <a:xfrm>
            <a:off x="457200" y="4928235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86156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三组输出跨组拼接后经 Channel Attention 加权融合</a:t>
            </a:r>
          </a:p>
        </p:txBody>
      </p:sp>
      <p:sp>
        <p:nvSpPr>
          <p:cNvPr id="53" name="Oval 52"/>
          <p:cNvSpPr/>
          <p:nvPr/>
        </p:nvSpPr>
        <p:spPr>
          <a:xfrm>
            <a:off x="457200" y="5233035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16636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最终通过 Pixel Attention 进行空间精细化</a:t>
            </a:r>
          </a:p>
        </p:txBody>
      </p:sp>
      <p:sp>
        <p:nvSpPr>
          <p:cNvPr id="55" name="Oval 54"/>
          <p:cNvSpPr/>
          <p:nvPr/>
        </p:nvSpPr>
        <p:spPr>
          <a:xfrm>
            <a:off x="457200" y="5537835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47116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整体参数量适中，适合 GPU 端到端训练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02  基本单元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Block 与 Group 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Block（基本块）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194560" cy="438912"/>
          </a:xfrm>
          <a:prstGeom prst="rect">
            <a:avLst/>
          </a:prstGeom>
          <a:solidFill>
            <a:srgbClr val="283F5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6537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Input x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22576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Conv 3×3 + ReLU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16352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+ x  (skip)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10128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4670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Conv 3×3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CALayer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97680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3425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7F00"/>
                </a:solidFill>
              </a:rPr>
              <a:t>PALayer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91456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2803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+ x  (skip)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85232"/>
            <a:ext cx="2194560" cy="438912"/>
          </a:xfrm>
          <a:prstGeom prst="rect">
            <a:avLst/>
          </a:prstGeom>
          <a:solidFill>
            <a:srgbClr val="283F5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218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Group（组）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28800"/>
            <a:ext cx="2194560" cy="438912"/>
          </a:xfrm>
          <a:prstGeom prst="rect">
            <a:avLst/>
          </a:prstGeom>
          <a:solidFill>
            <a:srgbClr val="283F5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6537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Input 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322576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3591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Block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16352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Block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310128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4670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</a:rPr>
              <a:t>  ···  (N Blocks)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803904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4048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Block 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297680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33425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Conv 3×3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791456"/>
            <a:ext cx="2194560" cy="438912"/>
          </a:xfrm>
          <a:prstGeom prst="rect">
            <a:avLst/>
          </a:prstGeom>
          <a:solidFill>
            <a:srgbClr val="1B2E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82803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+ x  (skip)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285232"/>
            <a:ext cx="2194560" cy="438912"/>
          </a:xfrm>
          <a:prstGeom prst="rect">
            <a:avLst/>
          </a:prstGeom>
          <a:solidFill>
            <a:srgbClr val="283F5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3218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1371600"/>
            <a:ext cx="25400" cy="5303520"/>
          </a:xfrm>
          <a:prstGeom prst="rect">
            <a:avLst/>
          </a:prstGeom>
          <a:solidFill>
            <a:srgbClr val="1B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关键代码（Block.forward）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1828800"/>
            <a:ext cx="2926080" cy="228600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1874519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</a:rPr>
              <a:t>def forward(self, x):
    res = self.act1(self.conv1(x))
    res = res + x           # skip 1
    res = self.conv2(res)
    res = self.calayer(res) # channel attn
    res = self.palayer(res) # pixel attn
    res += x                # skip 2
    return 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03  注意力机制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通道注意力 — CALayer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166"/>
                </a:solidFill>
              </a:rPr>
              <a:t>CALayer:  y = AvgPool(x)  →  Conv(C→C/8) + ReLU  →  Conv(C/8→C) + Sigmoid  →  x ⊗ 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1737360" cy="1005840"/>
          </a:xfrm>
          <a:prstGeom prst="rect">
            <a:avLst/>
          </a:prstGeom>
          <a:solidFill>
            <a:srgbClr val="1B2E4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</a:rPr>
              <a:t>Feature Map
[B,C,H,W]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3118104"/>
            <a:ext cx="274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67280" y="3044952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2468880"/>
            <a:ext cx="1737360" cy="100584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51460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Avg Pool
→ [B,C,1,1]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74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</a:rPr>
              <a:t>全局池化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118104"/>
            <a:ext cx="274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8960" y="3044952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468880"/>
            <a:ext cx="1737360" cy="100584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51460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Conv C→C/8
+ReLU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74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</a:rPr>
              <a:t>压缩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18104"/>
            <a:ext cx="274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0640" y="3044952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468880"/>
            <a:ext cx="1737360" cy="100584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Conv C/8→C
+Sigmoid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74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</a:rPr>
              <a:t>激活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118104"/>
            <a:ext cx="274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02320" y="3044952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2468880"/>
            <a:ext cx="1737360" cy="100584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51460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× Input
(逐通道相乘)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474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</a:rPr>
              <a:t>通道加权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80" y="3118104"/>
            <a:ext cx="274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14000" y="3044952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15600" y="2468880"/>
            <a:ext cx="1737360" cy="1005840"/>
          </a:xfrm>
          <a:prstGeom prst="rect">
            <a:avLst/>
          </a:prstGeom>
          <a:solidFill>
            <a:srgbClr val="283F5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251460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
[B,C,H,W]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</a:rPr>
              <a:t>作用：对不同特征通道赋予不同权重，强调信息量丰富的通道，抑制冗余通道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CALayer 核心代码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63440"/>
            <a:ext cx="5029200" cy="192024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7091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self.ca = nn.Sequential(
    nn.AdaptiveAvgPool2d(1),
    nn.Conv2d(C, C//8, 1),
    nn.ReLU(inplace=True),
    nn.Conv2d(C//8, C, 1),
    nn.Sigmoid()
)
def forward(self, x):
    return x * self.ca(x)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251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为什么通道注意力重要？</a:t>
            </a:r>
          </a:p>
        </p:txBody>
      </p:sp>
      <p:sp>
        <p:nvSpPr>
          <p:cNvPr id="39" name="Oval 38"/>
          <p:cNvSpPr/>
          <p:nvPr/>
        </p:nvSpPr>
        <p:spPr>
          <a:xfrm>
            <a:off x="5943600" y="4725670"/>
            <a:ext cx="88900" cy="8890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663440"/>
            <a:ext cx="54864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雾霾对不同颜色通道影响程度不同（蓝通道受影响更大）</a:t>
            </a:r>
          </a:p>
        </p:txBody>
      </p:sp>
      <p:sp>
        <p:nvSpPr>
          <p:cNvPr id="41" name="Oval 40"/>
          <p:cNvSpPr/>
          <p:nvPr/>
        </p:nvSpPr>
        <p:spPr>
          <a:xfrm>
            <a:off x="5943600" y="5010150"/>
            <a:ext cx="88900" cy="8890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947920"/>
            <a:ext cx="54864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压缩比 1/8 在感受野与参数量之间取得平衡</a:t>
            </a:r>
          </a:p>
        </p:txBody>
      </p:sp>
      <p:sp>
        <p:nvSpPr>
          <p:cNvPr id="43" name="Oval 42"/>
          <p:cNvSpPr/>
          <p:nvPr/>
        </p:nvSpPr>
        <p:spPr>
          <a:xfrm>
            <a:off x="5943600" y="5294630"/>
            <a:ext cx="88900" cy="8890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232400"/>
            <a:ext cx="54864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Sigmoid 归一化保证权重在 [0,1] 区间</a:t>
            </a:r>
          </a:p>
        </p:txBody>
      </p:sp>
      <p:sp>
        <p:nvSpPr>
          <p:cNvPr id="45" name="Oval 44"/>
          <p:cNvSpPr/>
          <p:nvPr/>
        </p:nvSpPr>
        <p:spPr>
          <a:xfrm>
            <a:off x="5943600" y="5579110"/>
            <a:ext cx="88900" cy="8890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5516880"/>
            <a:ext cx="54864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全局平均池化可捕捉全图统计信息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03  注意力机制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像素注意力 — PALayer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77F00"/>
                </a:solidFill>
              </a:rPr>
              <a:t>PALayer:  y = Conv(C→C/8) + ReLU  →  Conv(C/8→1) + Sigmoid  →  x ⊗ y  (空间掩码)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1828800" cy="1005840"/>
          </a:xfrm>
          <a:prstGeom prst="rect">
            <a:avLst/>
          </a:prstGeom>
          <a:solidFill>
            <a:srgbClr val="1B2E4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</a:rPr>
              <a:t>Feature Map
[B,C,H,W]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3118104"/>
            <a:ext cx="274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24480" y="3044952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2468880"/>
            <a:ext cx="1828800" cy="1005840"/>
          </a:xfrm>
          <a:prstGeom prst="rect">
            <a:avLst/>
          </a:prstGeom>
          <a:solidFill>
            <a:srgbClr val="1B2E44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5146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7F00"/>
                </a:solidFill>
              </a:rPr>
              <a:t>Conv C→C/8
+ReLU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</a:rPr>
              <a:t>特征压缩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118104"/>
            <a:ext cx="274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27600" y="3044952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468880"/>
            <a:ext cx="1828800" cy="1005840"/>
          </a:xfrm>
          <a:prstGeom prst="rect">
            <a:avLst/>
          </a:prstGeom>
          <a:solidFill>
            <a:srgbClr val="1B2E44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5146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7F00"/>
                </a:solidFill>
              </a:rPr>
              <a:t>Conv C/8→1
+Sigmoid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</a:rPr>
              <a:t>单通道掩码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118104"/>
            <a:ext cx="274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30720" y="3044952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2468880"/>
            <a:ext cx="1828800" cy="100584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5146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× Input
(逐像素相乘)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</a:rPr>
              <a:t>空间加权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118104"/>
            <a:ext cx="274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33840" y="3044952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468880"/>
            <a:ext cx="1828800" cy="1005840"/>
          </a:xfrm>
          <a:prstGeom prst="rect">
            <a:avLst/>
          </a:prstGeom>
          <a:solidFill>
            <a:srgbClr val="283F5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5146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
[B,C,H,W]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</a:rPr>
              <a:t>作用：生成空间维度权重图（H×W×1），对图像不同区域（浓雾/薄雾/清晰）差异化处理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CA 与 PA 对比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63440"/>
            <a:ext cx="18288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00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属性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4663440"/>
            <a:ext cx="41148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4700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CALayer (通道)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663440"/>
            <a:ext cx="41148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700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PALayer (像素)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010912"/>
            <a:ext cx="182880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047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5010912"/>
            <a:ext cx="411480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504748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通道  [C, 1, 1]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5010912"/>
            <a:ext cx="411480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04748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空间  [1, H, W]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358384"/>
            <a:ext cx="1828800" cy="347472"/>
          </a:xfrm>
          <a:prstGeom prst="rect">
            <a:avLst/>
          </a:prstGeom>
          <a:solidFill>
            <a:srgbClr val="22385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394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压缩方式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40" y="5358384"/>
            <a:ext cx="4114800" cy="347472"/>
          </a:xfrm>
          <a:prstGeom prst="rect">
            <a:avLst/>
          </a:prstGeom>
          <a:solidFill>
            <a:srgbClr val="22385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60" y="5394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全局平均池化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5358384"/>
            <a:ext cx="4114800" cy="347472"/>
          </a:xfrm>
          <a:prstGeom prst="rect">
            <a:avLst/>
          </a:prstGeom>
          <a:solidFill>
            <a:srgbClr val="22385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5394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1×1 卷积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705856"/>
            <a:ext cx="182880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742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输出通道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77440" y="5705856"/>
            <a:ext cx="411480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23160" y="57424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 个权重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5705856"/>
            <a:ext cx="411480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57424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 个掩码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053328"/>
            <a:ext cx="1828800" cy="347472"/>
          </a:xfrm>
          <a:prstGeom prst="rect">
            <a:avLst/>
          </a:prstGeom>
          <a:solidFill>
            <a:srgbClr val="22385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089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关注点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6053328"/>
            <a:ext cx="4114800" cy="347472"/>
          </a:xfrm>
          <a:prstGeom prst="rect">
            <a:avLst/>
          </a:prstGeom>
          <a:solidFill>
            <a:srgbClr val="22385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23160" y="608990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哪些特征重要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6053328"/>
            <a:ext cx="4114800" cy="347472"/>
          </a:xfrm>
          <a:prstGeom prst="rect">
            <a:avLst/>
          </a:prstGeom>
          <a:solidFill>
            <a:srgbClr val="22385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29400" y="608990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哪些位置重要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04  特征融合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跨组特征融合策略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D166"/>
                </a:solidFill>
              </a:rPr>
              <a:t>out = w₁·G1 + w₂·G2 + w₃·G3    where  [w₁,w₂,w₃] = Sigmoid(FC(Concat([G1,G2,G3])))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645920" cy="73152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G1 Output
[B,64,H,W]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514600"/>
            <a:ext cx="1645920" cy="73152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G2 Output
[B,64,H,W]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1645920" cy="731520"/>
          </a:xfrm>
          <a:prstGeom prst="rect">
            <a:avLst/>
          </a:prstGeom>
          <a:solidFill>
            <a:srgbClr val="1B2E44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5603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7F00"/>
                </a:solidFill>
              </a:rPr>
              <a:t>G3 Output
[B,64,H,W]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5486400" cy="685800"/>
          </a:xfrm>
          <a:prstGeom prst="rect">
            <a:avLst/>
          </a:prstGeom>
          <a:solidFill>
            <a:srgbClr val="1B2E44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5643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E0EF"/>
                </a:solidFill>
              </a:rPr>
              <a:t>Concat → [B, 192, H, W]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5486400" cy="685800"/>
          </a:xfrm>
          <a:prstGeom prst="rect">
            <a:avLst/>
          </a:prstGeom>
          <a:solidFill>
            <a:srgbClr val="1B2E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7939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Cross-Group CA → weights [B, 3, 64, 1, 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74920"/>
            <a:ext cx="5486400" cy="68580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0235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D6A0"/>
                </a:solidFill>
              </a:rPr>
              <a:t>Weighted Sum → [B, 64, H, W]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Fusion 核心代码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788920"/>
            <a:ext cx="5212080" cy="301752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83464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</a:rPr>
              <a:t>res1 = self.g1(x)
res2 = self.g2(res1)
res3 = self.g3(res2)
# Cross-group channel attention
w = self.ca(
    torch.cat([res1,res2,res3], dim=1))
w = w.view(-1, 3, 64)[:,:,:,None,None]
out = (w[:,0]*res1
     + w[:,1]*res2
     + w[:,2]*res3)
out = self.palayer(out)
x   = self.post(out)
return x + x1  # global residual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05  训练流程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训练流程与损失函数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55448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加载
有雾/清晰图对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103120"/>
            <a:ext cx="201168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8368" y="2029968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29968" y="1508760"/>
            <a:ext cx="155448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随机裁剪
&amp; 翻转增广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2103120"/>
            <a:ext cx="201168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16" y="2029968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85616" y="1508760"/>
            <a:ext cx="155448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6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归一化
输入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0096" y="2103120"/>
            <a:ext cx="201168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39664" y="2029968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1264" y="1508760"/>
            <a:ext cx="155448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1264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FFA-Net
前向传播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2103120"/>
            <a:ext cx="201168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95312" y="2029968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1508760"/>
            <a:ext cx="155448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L1 Loss
(+感知损失)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51392" y="2103120"/>
            <a:ext cx="201168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0960" y="2029968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508760"/>
            <a:ext cx="155448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7F00"/>
                </a:solidFill>
              </a:rPr>
              <a:t>反向传播
更新参数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07040" y="2103120"/>
            <a:ext cx="201168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706608" y="2029968"/>
            <a:ext cx="101600" cy="16459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808208" y="1508760"/>
            <a:ext cx="1554480" cy="822960"/>
          </a:xfrm>
          <a:prstGeom prst="rect">
            <a:avLst/>
          </a:prstGeom>
          <a:solidFill>
            <a:srgbClr val="1B2E44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8208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76F"/>
                </a:solidFill>
              </a:rPr>
              <a:t>余弦学习率
衰减调度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损失函数详解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solidFill>
            <a:srgbClr val="1B2E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0175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L_total = L1(pred, GT)  +  0.04 × L_perceptual(pred, GT)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L1 Loss：逐像素绝对误差，对噪声鲁棒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Perceptual Loss（可选）：VGG16前16层特征差异，保持语义/纹理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• 权重 0.04 防止感知损失主导训练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77F00"/>
                </a:solidFill>
              </a:rPr>
              <a:t>学习率调度（余弦衰减）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926080"/>
            <a:ext cx="5486400" cy="731520"/>
          </a:xfrm>
          <a:prstGeom prst="rect">
            <a:avLst/>
          </a:prstGeom>
          <a:solidFill>
            <a:srgbClr val="1B2E44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017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77F00"/>
                </a:solidFill>
              </a:rPr>
              <a:t>lr(t) = 0.5 × (1 + cos(t·π / T)) × lr₀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超参数配置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187952"/>
            <a:ext cx="23774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224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优化器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41080" y="4187952"/>
            <a:ext cx="30632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42245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Adam  (β₁=0.9, β₂=0.999)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553712"/>
            <a:ext cx="23774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590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初始学习率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41080" y="4553712"/>
            <a:ext cx="30632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45902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1e-4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919472"/>
            <a:ext cx="23774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956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批大小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41080" y="4919472"/>
            <a:ext cx="30632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495604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  (ITS) / 2  (OTS)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285232"/>
            <a:ext cx="23774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53218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训练步数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41080" y="5285232"/>
            <a:ext cx="30632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32520" y="532180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500K (ITS) / 1M (OTS)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650992"/>
            <a:ext cx="23774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687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评估间隔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41080" y="5650992"/>
            <a:ext cx="30632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32520" y="56875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每 5000 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6016752"/>
            <a:ext cx="23774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6053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裁剪尺寸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41080" y="6016752"/>
            <a:ext cx="306324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32520" y="60533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240×240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06  数据集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RESIDE 数据集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88920" cy="292608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7889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训练集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ITS
Indoor Training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13,990 张有雾图像
1,399 张清晰图像
室内合成雾霾
分辨率多样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463040"/>
            <a:ext cx="2788920" cy="292608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463040"/>
            <a:ext cx="278892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训练集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470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OTS
Outdoor Training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651760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313,950 张有雾图像
8,970 张清晰图像
室外合成雾霾
大规模训练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463040"/>
            <a:ext cx="2788920" cy="2926080"/>
          </a:xfrm>
          <a:prstGeom prst="rect">
            <a:avLst/>
          </a:prstGeom>
          <a:solidFill>
            <a:srgbClr val="1B2E44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463040"/>
            <a:ext cx="2788920" cy="32004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测试集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8470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F00"/>
                </a:solidFill>
              </a:rPr>
              <a:t>SOTS Indoor
Test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651760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500 对室内测试图
合成雾霾
评估 PSNR / SSIM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61704" y="1463040"/>
            <a:ext cx="2788920" cy="2926080"/>
          </a:xfrm>
          <a:prstGeom prst="rect">
            <a:avLst/>
          </a:prstGeom>
          <a:solidFill>
            <a:srgbClr val="1B2E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1704" y="1463040"/>
            <a:ext cx="2788920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测试集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18470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SOTS Outdoor
Test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651760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500 对室外测试图
合成雾霾
评估 PSNR / SSIM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数据增强策略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4999990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37760"/>
            <a:ext cx="521208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随机水平翻转（概率 0.5）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5284470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22240"/>
            <a:ext cx="521208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随机旋转 0° / 90° / 180° / 270°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5568950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06720"/>
            <a:ext cx="521208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随机裁剪 240×240 patch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" y="5853430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91200"/>
            <a:ext cx="521208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归一化：mean=[0.64, 0.60, 0.58], std=[0.14, 0.15, 0.152]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E0EF"/>
                </a:solidFill>
              </a:rPr>
              <a:t>文件命名规则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9377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有雾图像：  &lt;id&gt;_&lt;beta&gt;_&lt;A&gt;.png
清晰图像：  &lt;id&gt;.png
例：1400_0.9_0.16.jpg  →  清晰图 1400.png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07  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性能评估与对比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45336"/>
            <a:ext cx="21945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508760"/>
            <a:ext cx="20116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545336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室内 PSNR (dB)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508760"/>
            <a:ext cx="18288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45336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室内 SSIM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508760"/>
            <a:ext cx="20116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545336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室外 PSNR (dB)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508760"/>
            <a:ext cx="18288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545336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室外 SSIM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20240"/>
            <a:ext cx="219456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56816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1920240"/>
            <a:ext cx="201168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956816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16.62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920240"/>
            <a:ext cx="182880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956816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0.8179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1920240"/>
            <a:ext cx="201168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956816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19.13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1920240"/>
            <a:ext cx="182880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1956816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0.8148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13432"/>
            <a:ext cx="219456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350008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AOD-Net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2313432"/>
            <a:ext cx="201168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2350008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19.06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2313432"/>
            <a:ext cx="182880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2350008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0.8504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2313432"/>
            <a:ext cx="201168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350008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20.29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313432"/>
            <a:ext cx="182880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2350008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0.8765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706624"/>
            <a:ext cx="219456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743200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DehazeNet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2706624"/>
            <a:ext cx="201168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2743200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21.14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706624"/>
            <a:ext cx="182880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2743200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0.8472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400" y="2706624"/>
            <a:ext cx="201168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2743200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22.46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2706624"/>
            <a:ext cx="182880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2743200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0.8514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099816"/>
            <a:ext cx="219456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136392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GFN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7480" y="3099816"/>
            <a:ext cx="201168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313639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22.30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099816"/>
            <a:ext cx="182880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0600" y="3136392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0.8800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3099816"/>
            <a:ext cx="201168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313639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21.55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3099816"/>
            <a:ext cx="1828800" cy="393192"/>
          </a:xfrm>
          <a:prstGeom prst="rect">
            <a:avLst/>
          </a:prstGeom>
          <a:solidFill>
            <a:srgbClr val="1F355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32520" y="3136392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0.8444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493008"/>
            <a:ext cx="219456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3529584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GCANet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7480" y="3493008"/>
            <a:ext cx="201168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3529584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30.23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0" y="3493008"/>
            <a:ext cx="182880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00600" y="3529584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0.9800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29400" y="3493008"/>
            <a:ext cx="201168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0" y="3529584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3493008"/>
            <a:ext cx="1828800" cy="393192"/>
          </a:xfrm>
          <a:prstGeom prst="rect">
            <a:avLst/>
          </a:prstGeom>
          <a:solidFill>
            <a:srgbClr val="1B2E44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32520" y="3529584"/>
            <a:ext cx="17373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886200"/>
            <a:ext cx="2194560" cy="502920"/>
          </a:xfrm>
          <a:prstGeom prst="rect">
            <a:avLst/>
          </a:prstGeom>
          <a:solidFill>
            <a:srgbClr val="063A1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3922776"/>
            <a:ext cx="21031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FFA-Net
(Ours)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97480" y="3886200"/>
            <a:ext cx="2011680" cy="502920"/>
          </a:xfrm>
          <a:prstGeom prst="rect">
            <a:avLst/>
          </a:prstGeom>
          <a:solidFill>
            <a:srgbClr val="063A1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0" y="3922776"/>
            <a:ext cx="1920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36.39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54880" y="3886200"/>
            <a:ext cx="1828800" cy="502920"/>
          </a:xfrm>
          <a:prstGeom prst="rect">
            <a:avLst/>
          </a:prstGeom>
          <a:solidFill>
            <a:srgbClr val="063A1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00600" y="3922776"/>
            <a:ext cx="17373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0.9886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29400" y="3886200"/>
            <a:ext cx="2011680" cy="502920"/>
          </a:xfrm>
          <a:prstGeom prst="rect">
            <a:avLst/>
          </a:prstGeom>
          <a:solidFill>
            <a:srgbClr val="063A1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3922776"/>
            <a:ext cx="1920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33.57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86800" y="3886200"/>
            <a:ext cx="1828800" cy="502920"/>
          </a:xfrm>
          <a:prstGeom prst="rect">
            <a:avLst/>
          </a:prstGeom>
          <a:solidFill>
            <a:srgbClr val="063A1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32520" y="3922776"/>
            <a:ext cx="17373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0.9840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相对 GCANet（次优方法）的提升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074920"/>
            <a:ext cx="201168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5111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室内 PSNR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14600" y="5074920"/>
            <a:ext cx="457200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06040" y="51114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+6.16 dB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5458968"/>
            <a:ext cx="201168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5495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室内 SSIM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14600" y="5458968"/>
            <a:ext cx="457200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06040" y="54955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+0.0086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843016"/>
            <a:ext cx="201168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5879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室外 PSNR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14600" y="5843016"/>
            <a:ext cx="4572000" cy="347472"/>
          </a:xfrm>
          <a:prstGeom prst="rect">
            <a:avLst/>
          </a:prstGeom>
          <a:solidFill>
            <a:srgbClr val="1B2E44"/>
          </a:solidFill>
          <a:ln w="63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06040" y="58795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+14.44 dB（GCANet 无室外结果）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98079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指标说明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8079" y="507492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PSNR（峰值信噪比）：越高越好，单位 dB
PSNR = 20·log₁₀(1 / RMSE)
SSIM（结构相似度）：范围 [0,1]，越接近1越好
综合亮度/对比度/结构三方面评估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08  效果展示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去雾效果可视化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室内样本（ITS 数据集）</a:t>
            </a:r>
          </a:p>
        </p:txBody>
      </p:sp>
      <p:pic>
        <p:nvPicPr>
          <p:cNvPr id="7" name="Picture 6" descr="140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5577840" cy="2194560"/>
          </a:xfrm>
          <a:prstGeom prst="rect">
            <a:avLst/>
          </a:prstGeom>
        </p:spPr>
      </p:pic>
      <p:pic>
        <p:nvPicPr>
          <p:cNvPr id="8" name="Picture 7" descr="1400_2_F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557784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有雾输入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D6A0"/>
                </a:solidFill>
              </a:rPr>
              <a:t>FFA-Net 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室外样本（OTS 数据集）</a:t>
            </a:r>
          </a:p>
        </p:txBody>
      </p:sp>
      <p:pic>
        <p:nvPicPr>
          <p:cNvPr id="12" name="Picture 11" descr="0099_0.9_0.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800600"/>
            <a:ext cx="5577840" cy="1737360"/>
          </a:xfrm>
          <a:prstGeom prst="rect">
            <a:avLst/>
          </a:prstGeom>
        </p:spPr>
      </p:pic>
      <p:pic>
        <p:nvPicPr>
          <p:cNvPr id="13" name="Picture 12" descr="0099_0_F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800600"/>
            <a:ext cx="5577840" cy="1737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6000" y="6583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有雾输入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6583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</a:rPr>
              <a:t>FFA-Net 输出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09  代码结构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项目代码结构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6858000" cy="438912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FFA-Net/
├── net/
│   ├── main.py          # 训练入口：训练循环、eval、checkpoint
│   ├── test.py          # 推理入口：加载模型对图像去雾
│   ├── option.py        # 超参数 CLI 定义
│   ├── data_utils.py    # RESIDE 数据集加载、增强
│   ├── metrics.py       # PSNR / SSIM 实现
│   └── models/
│       ├── FFA.py       # 核心网络：PALayer/CALayer/Block/Group/FFA
│       └── PerceptualLoss.py  # VGG16 感知损失
├── fig/                 # 示例图片
└── README.md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463040"/>
            <a:ext cx="4480560" cy="1371600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19" y="15087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main.py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1874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lr_schedule_cosdecay() → 余弦衰减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2148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train() → 训练主循环，支持断点续训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423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test() → 评估 PSNR/SSIM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2697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支持 TensorboardX 可视化（注释状态）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971800"/>
            <a:ext cx="4480560" cy="1371600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30175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data_utils.py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383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RESIDE_Dataset → 自定义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36576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augData() → 翻转 + 旋转 + 归一化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3931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4 个预建 DataLoader（ITS/OTS × train/test）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480560"/>
            <a:ext cx="4480560" cy="1371600"/>
          </a:xfrm>
          <a:prstGeom prst="rect">
            <a:avLst/>
          </a:prstGeom>
          <a:solidFill>
            <a:srgbClr val="1B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45262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option.py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48920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argparse CLI 参数定义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51663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自动检测 CUDA，自动创建目录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54406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model_name 由参数组合生成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10  总结展望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总结与未来展望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核心贡献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82470"/>
            <a:ext cx="88900" cy="889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提出像素级注意力（PALayer），差异化处理不同浓度雾区域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66950"/>
            <a:ext cx="88900" cy="889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0472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提出通道级注意力（CALayer），对不同颜色/语义通道加权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551430"/>
            <a:ext cx="88900" cy="889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8920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设计跨组特征融合（FFA），动态整合多尺度特征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835910"/>
            <a:ext cx="88900" cy="889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室内 PSNR 36.39 dB / SSIM 0.9886，大幅领先现有 SOTA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20390"/>
            <a:ext cx="88900" cy="889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816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代码简洁，PyTorch 实现，易于复现与扩展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417320"/>
            <a:ext cx="25400" cy="5029200"/>
          </a:xfrm>
          <a:prstGeom prst="rect">
            <a:avLst/>
          </a:prstGeom>
          <a:solidFill>
            <a:srgbClr val="1B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7F00"/>
                </a:solidFill>
              </a:rPr>
              <a:t>局限性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1982470"/>
            <a:ext cx="88900" cy="88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2024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仅在合成数据集上验证，真实世界泛化性有待提升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266950"/>
            <a:ext cx="88900" cy="88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20472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分辨率受限于 GPU 显存，高分辨率图像需分块处理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551430"/>
            <a:ext cx="88900" cy="88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48920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固定 gps=3，Group 数量不可灵活配置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2835910"/>
            <a:ext cx="88900" cy="88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77368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推理速度未针对边缘设备优化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23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未来方向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4542790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引入 Transformer / 自注意力机制增强全局感知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4827270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6504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结合对比学习进行无监督去雾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5111750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04952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扩展至视频去雾，增加时序一致性约束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0" y="5396230"/>
            <a:ext cx="88900" cy="889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334000"/>
            <a:ext cx="50292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轻量化模型以支持移动端部署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74920"/>
            <a:ext cx="4846320" cy="1371600"/>
          </a:xfrm>
          <a:prstGeom prst="rect">
            <a:avLst/>
          </a:prstGeom>
          <a:solidFill>
            <a:srgbClr val="1B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1663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最终性能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5321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室内：PSNR 36.39 dB  /  SSIM 0.9886
室外：PSNR 33.57 dB  /  SSIM 0.9840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谢谢！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0E0EF"/>
                </a:solidFill>
              </a:rPr>
              <a:t>FFA-Net: Feature Fusion Attention Network for Single Image Dehazing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AAAI 2020  ·  arXiv:1911.07559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